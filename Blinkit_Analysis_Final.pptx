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4165B7-595E-45E0-BADE-358728DBEE7D}" v="1" dt="2026-10-05T08:41:34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1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ath Hussain" userId="95c238a3f94376d3" providerId="LiveId" clId="{88DCDB10-5568-4BD5-BB9F-4C6657EEB975}"/>
    <pc:docChg chg="custSel modSld">
      <pc:chgData name="Arshath Hussain" userId="95c238a3f94376d3" providerId="LiveId" clId="{88DCDB10-5568-4BD5-BB9F-4C6657EEB975}" dt="2026-10-05T08:43:29.062" v="66" actId="255"/>
      <pc:docMkLst>
        <pc:docMk/>
      </pc:docMkLst>
      <pc:sldChg chg="addSp delSp modSp mod">
        <pc:chgData name="Arshath Hussain" userId="95c238a3f94376d3" providerId="LiveId" clId="{88DCDB10-5568-4BD5-BB9F-4C6657EEB975}" dt="2026-10-05T08:43:29.062" v="66" actId="255"/>
        <pc:sldMkLst>
          <pc:docMk/>
          <pc:sldMk cId="0" sldId="270"/>
        </pc:sldMkLst>
        <pc:spChg chg="mod">
          <ac:chgData name="Arshath Hussain" userId="95c238a3f94376d3" providerId="LiveId" clId="{88DCDB10-5568-4BD5-BB9F-4C6657EEB975}" dt="2026-10-05T08:43:29.062" v="66" actId="255"/>
          <ac:spMkLst>
            <pc:docMk/>
            <pc:sldMk cId="0" sldId="270"/>
            <ac:spMk id="5" creationId="{00000000-0000-0000-0000-000000000000}"/>
          </ac:spMkLst>
        </pc:spChg>
        <pc:spChg chg="del mod">
          <ac:chgData name="Arshath Hussain" userId="95c238a3f94376d3" providerId="LiveId" clId="{88DCDB10-5568-4BD5-BB9F-4C6657EEB975}" dt="2026-10-05T08:29:33.337" v="8"/>
          <ac:spMkLst>
            <pc:docMk/>
            <pc:sldMk cId="0" sldId="270"/>
            <ac:spMk id="6" creationId="{00000000-0000-0000-0000-000000000000}"/>
          </ac:spMkLst>
        </pc:spChg>
        <pc:spChg chg="mod">
          <ac:chgData name="Arshath Hussain" userId="95c238a3f94376d3" providerId="LiveId" clId="{88DCDB10-5568-4BD5-BB9F-4C6657EEB975}" dt="2026-10-05T08:30:46.001" v="40" actId="14100"/>
          <ac:spMkLst>
            <pc:docMk/>
            <pc:sldMk cId="0" sldId="270"/>
            <ac:spMk id="8" creationId="{00000000-0000-0000-0000-000000000000}"/>
          </ac:spMkLst>
        </pc:spChg>
        <pc:spChg chg="del">
          <ac:chgData name="Arshath Hussain" userId="95c238a3f94376d3" providerId="LiveId" clId="{88DCDB10-5568-4BD5-BB9F-4C6657EEB975}" dt="2026-10-05T08:29:57.996" v="26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Arshath Hussain" userId="95c238a3f94376d3" providerId="LiveId" clId="{88DCDB10-5568-4BD5-BB9F-4C6657EEB975}" dt="2026-10-05T08:29:33.334" v="6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Arshath Hussain" userId="95c238a3f94376d3" providerId="LiveId" clId="{88DCDB10-5568-4BD5-BB9F-4C6657EEB975}" dt="2026-10-05T08:29:18.539" v="1" actId="478"/>
          <ac:spMkLst>
            <pc:docMk/>
            <pc:sldMk cId="0" sldId="270"/>
            <ac:spMk id="11" creationId="{00000000-0000-0000-0000-000000000000}"/>
          </ac:spMkLst>
        </pc:spChg>
        <pc:spChg chg="del">
          <ac:chgData name="Arshath Hussain" userId="95c238a3f94376d3" providerId="LiveId" clId="{88DCDB10-5568-4BD5-BB9F-4C6657EEB975}" dt="2026-10-05T08:29:20.925" v="2" actId="478"/>
          <ac:spMkLst>
            <pc:docMk/>
            <pc:sldMk cId="0" sldId="270"/>
            <ac:spMk id="12" creationId="{00000000-0000-0000-0000-000000000000}"/>
          </ac:spMkLst>
        </pc:spChg>
        <pc:spChg chg="del">
          <ac:chgData name="Arshath Hussain" userId="95c238a3f94376d3" providerId="LiveId" clId="{88DCDB10-5568-4BD5-BB9F-4C6657EEB975}" dt="2026-10-05T08:29:16.483" v="0" actId="478"/>
          <ac:spMkLst>
            <pc:docMk/>
            <pc:sldMk cId="0" sldId="270"/>
            <ac:spMk id="13" creationId="{00000000-0000-0000-0000-000000000000}"/>
          </ac:spMkLst>
        </pc:spChg>
        <pc:spChg chg="del">
          <ac:chgData name="Arshath Hussain" userId="95c238a3f94376d3" providerId="LiveId" clId="{88DCDB10-5568-4BD5-BB9F-4C6657EEB975}" dt="2026-10-05T08:30:07.473" v="30" actId="478"/>
          <ac:spMkLst>
            <pc:docMk/>
            <pc:sldMk cId="0" sldId="270"/>
            <ac:spMk id="14" creationId="{00000000-0000-0000-0000-000000000000}"/>
          </ac:spMkLst>
        </pc:spChg>
        <pc:spChg chg="del mod">
          <ac:chgData name="Arshath Hussain" userId="95c238a3f94376d3" providerId="LiveId" clId="{88DCDB10-5568-4BD5-BB9F-4C6657EEB975}" dt="2026-10-05T08:30:06.183" v="29" actId="478"/>
          <ac:spMkLst>
            <pc:docMk/>
            <pc:sldMk cId="0" sldId="270"/>
            <ac:spMk id="15" creationId="{00000000-0000-0000-0000-000000000000}"/>
          </ac:spMkLst>
        </pc:spChg>
        <pc:spChg chg="del mod">
          <ac:chgData name="Arshath Hussain" userId="95c238a3f94376d3" providerId="LiveId" clId="{88DCDB10-5568-4BD5-BB9F-4C6657EEB975}" dt="2026-10-05T08:29:55.334" v="19"/>
          <ac:spMkLst>
            <pc:docMk/>
            <pc:sldMk cId="0" sldId="270"/>
            <ac:spMk id="16" creationId="{00000000-0000-0000-0000-000000000000}"/>
          </ac:spMkLst>
        </pc:spChg>
        <pc:spChg chg="del">
          <ac:chgData name="Arshath Hussain" userId="95c238a3f94376d3" providerId="LiveId" clId="{88DCDB10-5568-4BD5-BB9F-4C6657EEB975}" dt="2026-10-05T08:30:09.216" v="31" actId="478"/>
          <ac:spMkLst>
            <pc:docMk/>
            <pc:sldMk cId="0" sldId="270"/>
            <ac:spMk id="17" creationId="{00000000-0000-0000-0000-000000000000}"/>
          </ac:spMkLst>
        </pc:spChg>
        <pc:spChg chg="del">
          <ac:chgData name="Arshath Hussain" userId="95c238a3f94376d3" providerId="LiveId" clId="{88DCDB10-5568-4BD5-BB9F-4C6657EEB975}" dt="2026-10-05T08:29:55.326" v="17" actId="478"/>
          <ac:spMkLst>
            <pc:docMk/>
            <pc:sldMk cId="0" sldId="270"/>
            <ac:spMk id="18" creationId="{00000000-0000-0000-0000-000000000000}"/>
          </ac:spMkLst>
        </pc:spChg>
        <pc:spChg chg="del mod">
          <ac:chgData name="Arshath Hussain" userId="95c238a3f94376d3" providerId="LiveId" clId="{88DCDB10-5568-4BD5-BB9F-4C6657EEB975}" dt="2026-10-05T08:29:55.344" v="21"/>
          <ac:spMkLst>
            <pc:docMk/>
            <pc:sldMk cId="0" sldId="270"/>
            <ac:spMk id="19" creationId="{00000000-0000-0000-0000-000000000000}"/>
          </ac:spMkLst>
        </pc:spChg>
        <pc:spChg chg="del">
          <ac:chgData name="Arshath Hussain" userId="95c238a3f94376d3" providerId="LiveId" clId="{88DCDB10-5568-4BD5-BB9F-4C6657EEB975}" dt="2026-10-05T08:30:13.856" v="34" actId="478"/>
          <ac:spMkLst>
            <pc:docMk/>
            <pc:sldMk cId="0" sldId="270"/>
            <ac:spMk id="20" creationId="{00000000-0000-0000-0000-000000000000}"/>
          </ac:spMkLst>
        </pc:spChg>
        <pc:spChg chg="del">
          <ac:chgData name="Arshath Hussain" userId="95c238a3f94376d3" providerId="LiveId" clId="{88DCDB10-5568-4BD5-BB9F-4C6657EEB975}" dt="2026-10-05T08:30:04.299" v="28" actId="478"/>
          <ac:spMkLst>
            <pc:docMk/>
            <pc:sldMk cId="0" sldId="270"/>
            <ac:spMk id="21" creationId="{00000000-0000-0000-0000-000000000000}"/>
          </ac:spMkLst>
        </pc:spChg>
        <pc:spChg chg="del mod">
          <ac:chgData name="Arshath Hussain" userId="95c238a3f94376d3" providerId="LiveId" clId="{88DCDB10-5568-4BD5-BB9F-4C6657EEB975}" dt="2026-10-05T08:29:55.351" v="23"/>
          <ac:spMkLst>
            <pc:docMk/>
            <pc:sldMk cId="0" sldId="270"/>
            <ac:spMk id="22" creationId="{00000000-0000-0000-0000-000000000000}"/>
          </ac:spMkLst>
        </pc:spChg>
        <pc:spChg chg="del">
          <ac:chgData name="Arshath Hussain" userId="95c238a3f94376d3" providerId="LiveId" clId="{88DCDB10-5568-4BD5-BB9F-4C6657EEB975}" dt="2026-10-05T08:30:12.364" v="33" actId="478"/>
          <ac:spMkLst>
            <pc:docMk/>
            <pc:sldMk cId="0" sldId="270"/>
            <ac:spMk id="23" creationId="{00000000-0000-0000-0000-000000000000}"/>
          </ac:spMkLst>
        </pc:spChg>
        <pc:spChg chg="del">
          <ac:chgData name="Arshath Hussain" userId="95c238a3f94376d3" providerId="LiveId" clId="{88DCDB10-5568-4BD5-BB9F-4C6657EEB975}" dt="2026-10-05T08:30:11.197" v="32" actId="478"/>
          <ac:spMkLst>
            <pc:docMk/>
            <pc:sldMk cId="0" sldId="270"/>
            <ac:spMk id="24" creationId="{00000000-0000-0000-0000-000000000000}"/>
          </ac:spMkLst>
        </pc:spChg>
        <pc:spChg chg="del mod">
          <ac:chgData name="Arshath Hussain" userId="95c238a3f94376d3" providerId="LiveId" clId="{88DCDB10-5568-4BD5-BB9F-4C6657EEB975}" dt="2026-10-05T08:29:55.355" v="25"/>
          <ac:spMkLst>
            <pc:docMk/>
            <pc:sldMk cId="0" sldId="270"/>
            <ac:spMk id="25" creationId="{00000000-0000-0000-0000-000000000000}"/>
          </ac:spMkLst>
        </pc:spChg>
        <pc:picChg chg="add mod">
          <ac:chgData name="Arshath Hussain" userId="95c238a3f94376d3" providerId="LiveId" clId="{88DCDB10-5568-4BD5-BB9F-4C6657EEB975}" dt="2026-10-05T08:42:05.604" v="51" actId="14100"/>
          <ac:picMkLst>
            <pc:docMk/>
            <pc:sldMk cId="0" sldId="270"/>
            <ac:picMk id="28" creationId="{A6094CD8-9CF6-867E-C42D-B92A331C9A3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235440" y="0"/>
            <a:ext cx="2926080" cy="914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784080" y="5394960"/>
            <a:ext cx="237744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FFFFFF"/>
                </a:solidFill>
                <a:latin typeface="Aptos Display"/>
              </a:defRPr>
            </a:pPr>
            <a:r>
              <a:t>Blinkit Sales &amp; Delivery</a:t>
            </a:r>
            <a:br/>
            <a:r>
              <a:t>Performance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71800"/>
            <a:ext cx="8869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7EBDC"/>
                </a:solidFill>
              </a:defRPr>
            </a:pPr>
            <a:r>
              <a:t>Excel-based Business Intelligence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794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3,000 Orders  •  Jan–Dec 2025  •  8 Cities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4327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56C"/>
                </a:solidFill>
              </a:defRPr>
            </a:pPr>
            <a:r>
              <a:t>Why the analysis is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56C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10927080" cy="4983480"/>
          </a:xfrm>
          <a:prstGeom prst="roundRect">
            <a:avLst/>
          </a:prstGeom>
          <a:solidFill>
            <a:srgbClr val="F4FAF5"/>
          </a:solidFill>
          <a:ln>
            <a:solidFill>
              <a:srgbClr val="D2E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2870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>
                <a:solidFill>
                  <a:srgbClr val="18352A"/>
                </a:solidFill>
              </a:defRPr>
            </a:pPr>
            <a:r>
              <a:t>Blinkit operates in a highly competitive quick-commerce market where sales growth, profitability, customer satisfaction, and timely delivery are essential for business success.</a:t>
            </a:r>
          </a:p>
          <a:p>
            <a:pPr>
              <a:spcAft>
                <a:spcPts val="1200"/>
              </a:spcAft>
              <a:defRPr sz="1450">
                <a:solidFill>
                  <a:srgbClr val="18352A"/>
                </a:solidFill>
              </a:defRPr>
            </a:pPr>
            <a:r>
              <a:t>However, analyzing large volumes of order data manually makes it difficult to identify sales trends, understand customer purchasing behavior, evaluate product and city performance, and detect delivery inefficiencies.</a:t>
            </a:r>
          </a:p>
          <a:p>
            <a:pPr>
              <a:spcAft>
                <a:spcPts val="1200"/>
              </a:spcAft>
              <a:defRPr sz="1450">
                <a:solidFill>
                  <a:srgbClr val="18352A"/>
                </a:solidFill>
              </a:defRPr>
            </a:pPr>
            <a:r>
              <a:t>The objective of this project is to develop an interactive Power BI dashboard using Blinkit order data to analyze sales performance, profitability, customer behavior, and delivery efficiency.</a:t>
            </a:r>
          </a:p>
          <a:p>
            <a:pPr>
              <a:spcAft>
                <a:spcPts val="1200"/>
              </a:spcAft>
              <a:defRPr sz="1450">
                <a:solidFill>
                  <a:srgbClr val="18352A"/>
                </a:solidFill>
              </a:defRPr>
            </a:pPr>
            <a:r>
              <a:t>The dashboard will use key performance indicators (KPIs), visualizations, and interactive filters to identify business trends, highlight operational issues, and support data-driven decision-making.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56C"/>
                </a:solidFill>
              </a:defRPr>
            </a:pPr>
            <a:r>
              <a:t>Blinkit Sales &amp; Delivery Performance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4327"/>
                </a:solidFill>
                <a:latin typeface="Aptos Display"/>
              </a:defRPr>
            </a:pPr>
            <a:r>
              <a:t>Business Questions &amp; Chart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56C"/>
                </a:solidFill>
              </a:defRPr>
            </a:pPr>
            <a:r>
              <a:t>Questions used to guide the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56C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07008"/>
            <a:ext cx="53492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>
                <a:solidFill>
                  <a:srgbClr val="18352A"/>
                </a:solidFill>
              </a:defRPr>
            </a:pPr>
            <a:r>
              <a:t>1. How do sales change month by month? — Line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07008"/>
            <a:ext cx="53492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>
                <a:solidFill>
                  <a:srgbClr val="18352A"/>
                </a:solidFill>
              </a:defRPr>
            </a:pPr>
            <a:r>
              <a:t>2. Which city generates the highest sales? — Bar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12848"/>
            <a:ext cx="53492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>
                <a:solidFill>
                  <a:srgbClr val="18352A"/>
                </a:solidFill>
              </a:defRPr>
            </a:pPr>
            <a:r>
              <a:t>3. Which product category contributes the most to sales? — Column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12848"/>
            <a:ext cx="53492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>
                <a:solidFill>
                  <a:srgbClr val="18352A"/>
                </a:solidFill>
              </a:defRPr>
            </a:pPr>
            <a:r>
              <a:t>4. What is the order cancellation rate? — Donut Chart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18688"/>
            <a:ext cx="53492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>
                <a:solidFill>
                  <a:srgbClr val="18352A"/>
                </a:solidFill>
              </a:defRPr>
            </a:pPr>
            <a:r>
              <a:t>5. Which product category generates the highest estimated profit? — Bar Chart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218688"/>
            <a:ext cx="53492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>
                <a:solidFill>
                  <a:srgbClr val="18352A"/>
                </a:solidFill>
              </a:defRPr>
            </a:pPr>
            <a:r>
              <a:t>6. Which cities have the highest late delivery rates? — Bar Chart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24528"/>
            <a:ext cx="53492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>
                <a:solidFill>
                  <a:srgbClr val="18352A"/>
                </a:solidFill>
              </a:defRPr>
            </a:pPr>
            <a:r>
              <a:t>7. Which delivery partners have the longest average delivery times? — Bar Chart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224528"/>
            <a:ext cx="53492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>
                <a:solidFill>
                  <a:srgbClr val="18352A"/>
                </a:solidFill>
              </a:defRPr>
            </a:pPr>
            <a:r>
              <a:t>8. How does delivery delay affect customer ratings? — Scatter/relationship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30368"/>
            <a:ext cx="53492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>
                <a:solidFill>
                  <a:srgbClr val="18352A"/>
                </a:solidFill>
              </a:defRPr>
            </a:pPr>
            <a:r>
              <a:t>9. Which payment mode is used most by customers? — Donut Chart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56C"/>
                </a:solidFill>
              </a:defRPr>
            </a:pPr>
            <a:r>
              <a:t>Blinkit Sales &amp; Delivery Performance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4327"/>
                </a:solidFill>
                <a:latin typeface="Aptos Display"/>
              </a:defRPr>
            </a:pPr>
            <a:r>
              <a:t>KPI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56C"/>
                </a:solidFill>
              </a:defRPr>
            </a:pPr>
            <a:r>
              <a:t>Overall performance snapshot from the Excel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56C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362456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4327"/>
                </a:solidFill>
              </a:defRPr>
            </a:pPr>
            <a:r>
              <a:t>₹22.12L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37944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5756C"/>
                </a:solidFill>
              </a:defRPr>
            </a:pPr>
            <a:r>
              <a:t>Total 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79" y="123444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79" y="123444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871" y="1362456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4327"/>
                </a:solidFill>
              </a:defRPr>
            </a:pPr>
            <a:r>
              <a:t>3,000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1" y="1837944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5756C"/>
                </a:solidFill>
              </a:defRPr>
            </a:pPr>
            <a:r>
              <a:t>Total 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23444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23444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6792" y="1362456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4327"/>
                </a:solidFill>
              </a:defRPr>
            </a:pPr>
            <a:r>
              <a:t>₹4.46L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1837944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5756C"/>
                </a:solidFill>
              </a:defRPr>
            </a:pPr>
            <a:r>
              <a:t>Total Profit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19" y="123444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19" y="123444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25711" y="1362456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4327"/>
                </a:solidFill>
              </a:defRPr>
            </a:pPr>
            <a:r>
              <a:t>₹737.29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1" y="1837944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5756C"/>
                </a:solidFill>
              </a:defRPr>
            </a:pPr>
            <a:r>
              <a:t>Average Order Value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29184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3291840"/>
            <a:ext cx="64008" cy="1600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3419856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4327"/>
                </a:solidFill>
              </a:defRPr>
            </a:pPr>
            <a:r>
              <a:t>19.07%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895344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5756C"/>
                </a:solidFill>
              </a:defRPr>
            </a:pPr>
            <a:r>
              <a:t>Cancellation 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79" y="329184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83279" y="3291840"/>
            <a:ext cx="64008" cy="1600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47871" y="3419856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4327"/>
                </a:solidFill>
              </a:defRPr>
            </a:pPr>
            <a:r>
              <a:t>37.15%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7871" y="3895344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5756C"/>
                </a:solidFill>
              </a:defRPr>
            </a:pPr>
            <a:r>
              <a:t>Late Delivery 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29184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329184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36792" y="3419856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4327"/>
                </a:solidFill>
              </a:defRPr>
            </a:pPr>
            <a:r>
              <a:t>28.24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3895344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5756C"/>
                </a:solidFill>
              </a:defRPr>
            </a:pPr>
            <a:r>
              <a:t>Avg Delivery 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19" y="329184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961119" y="329184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25711" y="3419856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4327"/>
                </a:solidFill>
              </a:defRPr>
            </a:pPr>
            <a:r>
              <a:t>4.07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1" y="3895344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5756C"/>
                </a:solidFill>
              </a:defRPr>
            </a:pPr>
            <a:r>
              <a:t>Avg Customer Rating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56C"/>
                </a:solidFill>
              </a:defRPr>
            </a:pPr>
            <a:r>
              <a:t>Blinkit Sales &amp; Delivery Performance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4327"/>
                </a:solidFill>
                <a:latin typeface="Aptos Display"/>
              </a:defRPr>
            </a:pPr>
            <a:r>
              <a:t>Q1. Monthly Final Order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56C"/>
                </a:solidFill>
              </a:defRPr>
            </a:pPr>
            <a:r>
              <a:t>Monthly sales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56C"/>
                </a:solidFill>
              </a:defRPr>
            </a:pPr>
            <a:r>
              <a:t>5</a:t>
            </a:r>
          </a:p>
        </p:txBody>
      </p:sp>
      <p:pic>
        <p:nvPicPr>
          <p:cNvPr id="8" name="Picture 7" descr="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36946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23960" y="1325880"/>
            <a:ext cx="2788920" cy="4480560"/>
          </a:xfrm>
          <a:prstGeom prst="roundRect">
            <a:avLst/>
          </a:prstGeom>
          <a:solidFill>
            <a:srgbClr val="F4FAF5"/>
          </a:solidFill>
          <a:ln>
            <a:solidFill>
              <a:srgbClr val="D2E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0" y="16002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4327"/>
                </a:solidFill>
              </a:defRPr>
            </a:pPr>
            <a: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48840"/>
            <a:ext cx="2331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352A"/>
                </a:solidFill>
              </a:defRPr>
            </a:pPr>
            <a:r>
              <a:t>January is the strongest month; February and July are weaker, with a strong October rebound.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4800600"/>
            <a:ext cx="233172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C4327"/>
                </a:solidFill>
              </a:defRPr>
            </a:pPr>
            <a:r>
              <a:t>Excel pivot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56C"/>
                </a:solidFill>
              </a:defRPr>
            </a:pPr>
            <a:r>
              <a:t>Blinkit Sales &amp; Delivery Performance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4327"/>
                </a:solidFill>
                <a:latin typeface="Aptos Display"/>
              </a:defRPr>
            </a:pPr>
            <a:r>
              <a:t>Q2. Final Order Value by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56C"/>
                </a:solidFill>
              </a:defRPr>
            </a:pPr>
            <a:r>
              <a:t>City-wise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56C"/>
                </a:solidFill>
              </a:defRPr>
            </a:pPr>
            <a:r>
              <a:t>6</a:t>
            </a:r>
          </a:p>
        </p:txBody>
      </p:sp>
      <p:pic>
        <p:nvPicPr>
          <p:cNvPr id="8" name="Picture 7" descr="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36946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23960" y="1325880"/>
            <a:ext cx="2788920" cy="4480560"/>
          </a:xfrm>
          <a:prstGeom prst="roundRect">
            <a:avLst/>
          </a:prstGeom>
          <a:solidFill>
            <a:srgbClr val="F4FAF5"/>
          </a:solidFill>
          <a:ln>
            <a:solidFill>
              <a:srgbClr val="D2E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0" y="16002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4327"/>
                </a:solidFill>
              </a:defRPr>
            </a:pPr>
            <a: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48840"/>
            <a:ext cx="2331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352A"/>
                </a:solidFill>
              </a:defRPr>
            </a:pPr>
            <a:r>
              <a:t>Pune leads city sales at about ₹3.07L, closely followed by Hyderabad at about ₹3.06L.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4800600"/>
            <a:ext cx="233172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C4327"/>
                </a:solidFill>
              </a:defRPr>
            </a:pPr>
            <a:r>
              <a:t>Excel pivot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56C"/>
                </a:solidFill>
              </a:defRPr>
            </a:pPr>
            <a:r>
              <a:t>Blinkit Sales &amp; Delivery Performance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4327"/>
                </a:solidFill>
                <a:latin typeface="Aptos Display"/>
              </a:defRPr>
            </a:pPr>
            <a:r>
              <a:t>Q3. Final Order Value by Product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56C"/>
                </a:solidFill>
              </a:defRPr>
            </a:pPr>
            <a:r>
              <a:t>Category-wise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56C"/>
                </a:solidFill>
              </a:defRPr>
            </a:pPr>
            <a:r>
              <a:t>7</a:t>
            </a:r>
          </a:p>
        </p:txBody>
      </p:sp>
      <p:pic>
        <p:nvPicPr>
          <p:cNvPr id="8" name="Picture 7" descr="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36946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23960" y="1325880"/>
            <a:ext cx="2788920" cy="4480560"/>
          </a:xfrm>
          <a:prstGeom prst="roundRect">
            <a:avLst/>
          </a:prstGeom>
          <a:solidFill>
            <a:srgbClr val="F4FAF5"/>
          </a:solidFill>
          <a:ln>
            <a:solidFill>
              <a:srgbClr val="D2E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0" y="16002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4327"/>
                </a:solidFill>
              </a:defRPr>
            </a:pPr>
            <a: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48840"/>
            <a:ext cx="2331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352A"/>
                </a:solidFill>
              </a:defRPr>
            </a:pPr>
            <a:r>
              <a:t>Cold Drinks &amp; Juices and Household Care are the top sales categories.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4800600"/>
            <a:ext cx="233172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C4327"/>
                </a:solidFill>
              </a:defRPr>
            </a:pPr>
            <a:r>
              <a:t>Excel pivot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56C"/>
                </a:solidFill>
              </a:defRPr>
            </a:pPr>
            <a:r>
              <a:t>Blinkit Sales &amp; Delivery Performance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4327"/>
                </a:solidFill>
                <a:latin typeface="Aptos Display"/>
              </a:defRPr>
            </a:pPr>
            <a:r>
              <a:t>Q4. Order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56C"/>
                </a:solidFill>
              </a:defRPr>
            </a:pPr>
            <a:r>
              <a:t>Delivered vs cancelled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56C"/>
                </a:solidFill>
              </a:defRPr>
            </a:pPr>
            <a:r>
              <a:t>8</a:t>
            </a:r>
          </a:p>
        </p:txBody>
      </p:sp>
      <p:pic>
        <p:nvPicPr>
          <p:cNvPr id="8" name="Picture 7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96675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23960" y="1325880"/>
            <a:ext cx="2788920" cy="4480560"/>
          </a:xfrm>
          <a:prstGeom prst="roundRect">
            <a:avLst/>
          </a:prstGeom>
          <a:solidFill>
            <a:srgbClr val="F4FAF5"/>
          </a:solidFill>
          <a:ln>
            <a:solidFill>
              <a:srgbClr val="D2E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0" y="16002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4327"/>
                </a:solidFill>
              </a:defRPr>
            </a:pPr>
            <a: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48840"/>
            <a:ext cx="2331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352A"/>
                </a:solidFill>
              </a:defRPr>
            </a:pPr>
            <a:r>
              <a:t>2,428 orders were delivered and 572 were cancelled, giving a 19.07% cancellation 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4800600"/>
            <a:ext cx="233172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C4327"/>
                </a:solidFill>
              </a:defRPr>
            </a:pPr>
            <a:r>
              <a:t>Excel pivot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56C"/>
                </a:solidFill>
              </a:defRPr>
            </a:pPr>
            <a:r>
              <a:t>Blinkit Sales &amp; Delivery Performance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4327"/>
                </a:solidFill>
                <a:latin typeface="Aptos Display"/>
              </a:defRPr>
            </a:pPr>
            <a:r>
              <a:t>Q5. Estimated Profit by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56C"/>
                </a:solidFill>
              </a:defRPr>
            </a:pPr>
            <a:r>
              <a:t>Category-wise estimated profit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56C"/>
                </a:solidFill>
              </a:defRPr>
            </a:pPr>
            <a:r>
              <a:t>9</a:t>
            </a:r>
          </a:p>
        </p:txBody>
      </p:sp>
      <p:pic>
        <p:nvPicPr>
          <p:cNvPr id="8" name="Picture 7" descr="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36946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23960" y="1325880"/>
            <a:ext cx="2788920" cy="4480560"/>
          </a:xfrm>
          <a:prstGeom prst="roundRect">
            <a:avLst/>
          </a:prstGeom>
          <a:solidFill>
            <a:srgbClr val="F4FAF5"/>
          </a:solidFill>
          <a:ln>
            <a:solidFill>
              <a:srgbClr val="D2E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0" y="16002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4327"/>
                </a:solidFill>
              </a:defRPr>
            </a:pPr>
            <a: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48840"/>
            <a:ext cx="2331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352A"/>
                </a:solidFill>
              </a:defRPr>
            </a:pPr>
            <a:r>
              <a:t>Cold Drinks &amp; Juices has the highest estimated profit at about ₹51.15K.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4800600"/>
            <a:ext cx="233172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C4327"/>
                </a:solidFill>
              </a:defRPr>
            </a:pPr>
            <a:r>
              <a:t>Excel pivot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56C"/>
                </a:solidFill>
              </a:defRPr>
            </a:pPr>
            <a:r>
              <a:t>Blinkit Sales &amp; Delivery Performance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4327"/>
                </a:solidFill>
                <a:latin typeface="Aptos Display"/>
              </a:defRPr>
            </a:pPr>
            <a:r>
              <a:t>Q6. Late-Delivery Rate by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56C"/>
                </a:solidFill>
              </a:defRPr>
            </a:pPr>
            <a:r>
              <a:t>Late delivery by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56C"/>
                </a:solidFill>
              </a:defRPr>
            </a:pPr>
            <a:r>
              <a:t>10</a:t>
            </a:r>
          </a:p>
        </p:txBody>
      </p:sp>
      <p:pic>
        <p:nvPicPr>
          <p:cNvPr id="8" name="Picture 7" descr="char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369266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23960" y="1325880"/>
            <a:ext cx="2788920" cy="4480560"/>
          </a:xfrm>
          <a:prstGeom prst="roundRect">
            <a:avLst/>
          </a:prstGeom>
          <a:solidFill>
            <a:srgbClr val="F4FAF5"/>
          </a:solidFill>
          <a:ln>
            <a:solidFill>
              <a:srgbClr val="D2E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0" y="16002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4327"/>
                </a:solidFill>
              </a:defRPr>
            </a:pPr>
            <a: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48840"/>
            <a:ext cx="2331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352A"/>
                </a:solidFill>
              </a:defRPr>
            </a:pPr>
            <a:r>
              <a:t>Chennai has the highest late-delivery rate at about 33.3%; Hyderabad is lowest at about 27.3%.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4800600"/>
            <a:ext cx="233172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C4327"/>
                </a:solidFill>
              </a:defRPr>
            </a:pPr>
            <a:r>
              <a:t>Excel pivot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56C"/>
                </a:solidFill>
              </a:defRPr>
            </a:pPr>
            <a:r>
              <a:t>Blinkit Sales &amp; Delivery Performance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4327"/>
                </a:solidFill>
                <a:latin typeface="Aptos Display"/>
              </a:defRPr>
            </a:pPr>
            <a:r>
              <a:t>Q7. Average Delivery Time by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56C"/>
                </a:solidFill>
              </a:defRPr>
            </a:pPr>
            <a:r>
              <a:t>Average delivery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56C"/>
                </a:solidFill>
              </a:defRPr>
            </a:pPr>
            <a:r>
              <a:t>11</a:t>
            </a:r>
          </a:p>
        </p:txBody>
      </p:sp>
      <p:pic>
        <p:nvPicPr>
          <p:cNvPr id="8" name="Picture 7" descr="char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36946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23960" y="1325880"/>
            <a:ext cx="2788920" cy="4480560"/>
          </a:xfrm>
          <a:prstGeom prst="roundRect">
            <a:avLst/>
          </a:prstGeom>
          <a:solidFill>
            <a:srgbClr val="F4FAF5"/>
          </a:solidFill>
          <a:ln>
            <a:solidFill>
              <a:srgbClr val="D2E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0" y="16002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4327"/>
                </a:solidFill>
              </a:defRPr>
            </a:pPr>
            <a: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48840"/>
            <a:ext cx="2331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352A"/>
                </a:solidFill>
              </a:defRPr>
            </a:pPr>
            <a:r>
              <a:t>Partner B is fastest at about 28.14 minutes; partner differences are small.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4800600"/>
            <a:ext cx="233172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C4327"/>
                </a:solidFill>
              </a:defRPr>
            </a:pPr>
            <a:r>
              <a:t>Excel pivot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56C"/>
                </a:solidFill>
              </a:defRPr>
            </a:pPr>
            <a:r>
              <a:t>Blinkit Sales &amp; Delivery Performance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4327"/>
                </a:solidFill>
                <a:latin typeface="Aptos Display"/>
              </a:defRPr>
            </a:pPr>
            <a:r>
              <a:t>Q8. Customer Rating by Delivery-Time Bucket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56C"/>
                </a:solidFill>
              </a:defRPr>
            </a:pPr>
            <a:r>
              <a:t>Rating by delivery-time bucket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56C"/>
                </a:solidFill>
              </a:defRPr>
            </a:pPr>
            <a:r>
              <a:t>12</a:t>
            </a:r>
          </a:p>
        </p:txBody>
      </p:sp>
      <p:pic>
        <p:nvPicPr>
          <p:cNvPr id="8" name="Picture 7" descr="chart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36946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23960" y="1325880"/>
            <a:ext cx="2788920" cy="4480560"/>
          </a:xfrm>
          <a:prstGeom prst="roundRect">
            <a:avLst/>
          </a:prstGeom>
          <a:solidFill>
            <a:srgbClr val="F4FAF5"/>
          </a:solidFill>
          <a:ln>
            <a:solidFill>
              <a:srgbClr val="D2E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0" y="16002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4327"/>
                </a:solidFill>
              </a:defRPr>
            </a:pPr>
            <a: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48840"/>
            <a:ext cx="2331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352A"/>
                </a:solidFill>
              </a:defRPr>
            </a:pPr>
            <a:r>
              <a:t>The 30–40 minute bucket has the highest average rating at 4.30.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4800600"/>
            <a:ext cx="233172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C4327"/>
                </a:solidFill>
              </a:defRPr>
            </a:pPr>
            <a:r>
              <a:t>Excel pivot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56C"/>
                </a:solidFill>
              </a:defRPr>
            </a:pPr>
            <a:r>
              <a:t>Blinkit Sales &amp; Delivery Performance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4327"/>
                </a:solidFill>
                <a:latin typeface="Aptos Display"/>
              </a:defRPr>
            </a:pPr>
            <a:r>
              <a:t>Q9. Orders by Payment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56C"/>
                </a:solidFill>
              </a:defRPr>
            </a:pPr>
            <a:r>
              <a:t>Payment method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56C"/>
                </a:solidFill>
              </a:defRPr>
            </a:pPr>
            <a:r>
              <a:t>13</a:t>
            </a:r>
          </a:p>
        </p:txBody>
      </p:sp>
      <p:pic>
        <p:nvPicPr>
          <p:cNvPr id="8" name="Picture 7" descr="chart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092440" cy="36946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23960" y="1325880"/>
            <a:ext cx="2788920" cy="4480560"/>
          </a:xfrm>
          <a:prstGeom prst="roundRect">
            <a:avLst/>
          </a:prstGeom>
          <a:solidFill>
            <a:srgbClr val="F4FAF5"/>
          </a:solidFill>
          <a:ln>
            <a:solidFill>
              <a:srgbClr val="D2E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0" y="16002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4327"/>
                </a:solidFill>
              </a:defRPr>
            </a:pPr>
            <a: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48840"/>
            <a:ext cx="2331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352A"/>
                </a:solidFill>
              </a:defRPr>
            </a:pPr>
            <a:r>
              <a:t>Cash is the most-used payment method with 639 orders, followed by UPI with 620.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4800600"/>
            <a:ext cx="233172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C4327"/>
                </a:solidFill>
              </a:defRPr>
            </a:pPr>
            <a:r>
              <a:t>Excel pivot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56C"/>
                </a:solidFill>
              </a:defRPr>
            </a:pPr>
            <a:r>
              <a:t>Blinkit Sales &amp; Delivery Performance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4327"/>
                </a:solidFill>
                <a:latin typeface="Aptos Display"/>
              </a:defRPr>
            </a:pPr>
            <a:r>
              <a:t>Key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56C"/>
                </a:solidFill>
              </a:defRPr>
            </a:pPr>
            <a:r>
              <a:t>What the complete analysis tells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56C"/>
                </a:solidFill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49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8352A"/>
                </a:solidFill>
              </a:defRPr>
            </a:pPr>
            <a:r>
              <a:t>Sales are strongest in Pune and Hyderabad.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349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8352A"/>
                </a:solidFill>
              </a:defRPr>
            </a:pPr>
            <a:r>
              <a:t>Cold Drinks &amp; Juices is a leading sales and profit category.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5349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8352A"/>
                </a:solidFill>
              </a:defRPr>
            </a:pPr>
            <a:r>
              <a:t>Cancellation rate of 19.07% is a clear operational concern.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743200"/>
            <a:ext cx="5349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8352A"/>
                </a:solidFill>
              </a:defRPr>
            </a:pPr>
            <a:r>
              <a:t>Chennai and Kolkata have the highest late-delivery rates.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60520"/>
            <a:ext cx="5349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8352A"/>
                </a:solidFill>
              </a:defRPr>
            </a:pPr>
            <a:r>
              <a:t>Delivery partners perform within a narrow average-time range.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160520"/>
            <a:ext cx="5349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8352A"/>
                </a:solidFill>
              </a:defRPr>
            </a:pPr>
            <a:r>
              <a:t>Cash and UPI are the two most-used payment channels.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56C"/>
                </a:solidFill>
              </a:defRPr>
            </a:pPr>
            <a:r>
              <a:t>Blinkit Sales &amp; Delivery Performance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9119" y="161384"/>
            <a:ext cx="44581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4327"/>
                </a:solidFill>
                <a:latin typeface="Aptos Display"/>
              </a:defRPr>
            </a:pPr>
            <a:r>
              <a:rPr lang="en-GB" sz="3600" dirty="0"/>
              <a:t>DASHBOARD</a:t>
            </a:r>
            <a:endParaRPr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11109960" y="274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56C"/>
                </a:solidFill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6463" y="694944"/>
            <a:ext cx="11855116" cy="5669280"/>
          </a:xfrm>
          <a:prstGeom prst="roundRect">
            <a:avLst/>
          </a:prstGeom>
          <a:solidFill>
            <a:srgbClr val="F4FAF5"/>
          </a:solidFill>
          <a:ln>
            <a:solidFill>
              <a:srgbClr val="D2E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56C"/>
                </a:solidFill>
              </a:defRPr>
            </a:pPr>
            <a:r>
              <a:t>Blinkit Sales &amp; Delivery Performance Analysis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6094CD8-9CF6-867E-C42D-B92A331C9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89" y="932688"/>
            <a:ext cx="10698480" cy="4986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424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CEEE1"/>
                </a:solidFill>
              </a:defRPr>
            </a:pPr>
            <a:r>
              <a:t>The Excel order data provides a clear view of sales, profitability, customer experience and delivery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1828800"/>
          </a:xfrm>
          <a:prstGeom prst="roundRect">
            <a:avLst/>
          </a:prstGeom>
          <a:solidFill>
            <a:srgbClr val="145B36"/>
          </a:solidFill>
          <a:ln>
            <a:solidFill>
              <a:srgbClr val="28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defRPr sz="1700" b="1">
                <a:solidFill>
                  <a:srgbClr val="FFFFFF"/>
                </a:solidFill>
              </a:defRPr>
            </a:pPr>
            <a:r>
              <a:t>Main focus areas: reduce cancellations • improve delivery in problem cities • strengthen high-performing categories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0"/>
            <a:ext cx="2496312" cy="1097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793</Words>
  <Application>Microsoft Office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Arshath Hussain</cp:lastModifiedBy>
  <cp:revision>1</cp:revision>
  <dcterms:created xsi:type="dcterms:W3CDTF">2013-01-27T09:14:16Z</dcterms:created>
  <dcterms:modified xsi:type="dcterms:W3CDTF">2026-10-05T08:43:38Z</dcterms:modified>
  <cp:category/>
</cp:coreProperties>
</file>